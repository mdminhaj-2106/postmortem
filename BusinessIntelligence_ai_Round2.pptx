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b426d2114a4bb5" /><Relationship Type="http://schemas.openxmlformats.org/officeDocument/2006/relationships/extended-properties" Target="/docProps/app.xml" Id="Rdc6c449695ae453c" /><Relationship Type="http://schemas.openxmlformats.org/officeDocument/2006/relationships/officeDocument" Target="/ppt/presentation.xml" Id="Ra61ffd96c26945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62e717a0d4598"/>
  </p:sldMasterIdLst>
  <p:notesMasterIdLst>
    <p:notesMasterId xmlns:r="http://schemas.openxmlformats.org/officeDocument/2006/relationships" r:id="R47619e0d587f46a8"/>
  </p:notesMasterIdLst>
  <p:sldIdLst>
    <p:sldId xmlns:r="http://schemas.openxmlformats.org/officeDocument/2006/relationships" id="256" r:id="R50e7366811434884"/>
    <p:sldId xmlns:r="http://schemas.openxmlformats.org/officeDocument/2006/relationships" id="257" r:id="R672121defa804297"/>
    <p:sldId xmlns:r="http://schemas.openxmlformats.org/officeDocument/2006/relationships" id="258" r:id="Rfab0e35c7a554ba5"/>
    <p:sldId xmlns:r="http://schemas.openxmlformats.org/officeDocument/2006/relationships" id="259" r:id="Re0f2f737bf844118"/>
    <p:sldId xmlns:r="http://schemas.openxmlformats.org/officeDocument/2006/relationships" id="260" r:id="R44826a23445c49cd"/>
    <p:sldId xmlns:r="http://schemas.openxmlformats.org/officeDocument/2006/relationships" id="261" r:id="R52bd7960825942b3"/>
    <p:sldId xmlns:r="http://schemas.openxmlformats.org/officeDocument/2006/relationships" id="262" r:id="R5ecfd7a7948f4296"/>
    <p:sldId xmlns:r="http://schemas.openxmlformats.org/officeDocument/2006/relationships" id="263" r:id="R3a6961a1b0f94916"/>
    <p:sldId xmlns:r="http://schemas.openxmlformats.org/officeDocument/2006/relationships" id="264" r:id="R9c1da7b8a71e49fd"/>
    <p:sldId xmlns:r="http://schemas.openxmlformats.org/officeDocument/2006/relationships" id="265" r:id="R4fa493e7e2d9476f"/>
    <p:sldId xmlns:r="http://schemas.openxmlformats.org/officeDocument/2006/relationships" id="266" r:id="Rf35975ba6e2b4e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d7d9ae1297432e" /><Relationship Type="http://schemas.openxmlformats.org/officeDocument/2006/relationships/slideMaster" Target="/ppt/slideMasters/slideMaster1.xml" Id="R5b762e717a0d4598" /><Relationship Type="http://schemas.openxmlformats.org/officeDocument/2006/relationships/notesMaster" Target="/ppt/notesMasters/notesMaster1.xml" Id="R47619e0d587f46a8" /><Relationship Type="http://schemas.openxmlformats.org/officeDocument/2006/relationships/presProps" Target="/ppt/presProps.xml" Id="R57f7ab9828d64f19" /><Relationship Type="http://schemas.openxmlformats.org/officeDocument/2006/relationships/tableStyles" Target="/ppt/tableStyles.xml" Id="Rf2f1bf8d5f3645a3" /><Relationship Type="http://schemas.openxmlformats.org/officeDocument/2006/relationships/slide" Target="/ppt/slides/slide1.xml" Id="R50e7366811434884" /><Relationship Type="http://schemas.openxmlformats.org/officeDocument/2006/relationships/slide" Target="/ppt/slides/slide2.xml" Id="R672121defa804297" /><Relationship Type="http://schemas.openxmlformats.org/officeDocument/2006/relationships/slide" Target="/ppt/slides/slide3.xml" Id="Rfab0e35c7a554ba5" /><Relationship Type="http://schemas.openxmlformats.org/officeDocument/2006/relationships/slide" Target="/ppt/slides/slide4.xml" Id="Re0f2f737bf844118" /><Relationship Type="http://schemas.openxmlformats.org/officeDocument/2006/relationships/slide" Target="/ppt/slides/slide5.xml" Id="R44826a23445c49cd" /><Relationship Type="http://schemas.openxmlformats.org/officeDocument/2006/relationships/slide" Target="/ppt/slides/slide6.xml" Id="R52bd7960825942b3" /><Relationship Type="http://schemas.openxmlformats.org/officeDocument/2006/relationships/slide" Target="/ppt/slides/slide7.xml" Id="R5ecfd7a7948f4296" /><Relationship Type="http://schemas.openxmlformats.org/officeDocument/2006/relationships/slide" Target="/ppt/slides/slide8.xml" Id="R3a6961a1b0f94916" /><Relationship Type="http://schemas.openxmlformats.org/officeDocument/2006/relationships/slide" Target="/ppt/slides/slide9.xml" Id="R9c1da7b8a71e49fd" /><Relationship Type="http://schemas.openxmlformats.org/officeDocument/2006/relationships/slide" Target="/ppt/slides/slide10.xml" Id="R4fa493e7e2d9476f" /><Relationship Type="http://schemas.openxmlformats.org/officeDocument/2006/relationships/slide" Target="/ppt/slides/slide11.xml" Id="Rf35975ba6e2b4e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4cc4de3d046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d3784b25e14b73" /><Relationship Type="http://schemas.openxmlformats.org/officeDocument/2006/relationships/notesMaster" Target="/ppt/notesMasters/notesMaster1.xml" Id="R8a8c82b25f2046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fc4936588f48da" /><Relationship Type="http://schemas.openxmlformats.org/officeDocument/2006/relationships/notesMaster" Target="/ppt/notesMasters/notesMaster1.xml" Id="R76627978d59748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c811eeaef34bd6" /><Relationship Type="http://schemas.openxmlformats.org/officeDocument/2006/relationships/notesMaster" Target="/ppt/notesMasters/notesMaster1.xml" Id="R91bf0a5f33d2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12a84e8bc14258" /><Relationship Type="http://schemas.openxmlformats.org/officeDocument/2006/relationships/notesMaster" Target="/ppt/notesMasters/notesMaster1.xml" Id="Rb63d73aaa7354d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d882bfb90b4182" /><Relationship Type="http://schemas.openxmlformats.org/officeDocument/2006/relationships/notesMaster" Target="/ppt/notesMasters/notesMaster1.xml" Id="R8654d8dfb2334b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ed02403bcd4072" /><Relationship Type="http://schemas.openxmlformats.org/officeDocument/2006/relationships/notesMaster" Target="/ppt/notesMasters/notesMaster1.xml" Id="R7660afd672ed4c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6c46618a4d42c7" /><Relationship Type="http://schemas.openxmlformats.org/officeDocument/2006/relationships/notesMaster" Target="/ppt/notesMasters/notesMaster1.xml" Id="R4b9ede10258f4b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69cefde8e548f4" /><Relationship Type="http://schemas.openxmlformats.org/officeDocument/2006/relationships/notesMaster" Target="/ppt/notesMasters/notesMaster1.xml" Id="Rfd045263249c4f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20326b4ca9489a" /><Relationship Type="http://schemas.openxmlformats.org/officeDocument/2006/relationships/notesMaster" Target="/ppt/notesMasters/notesMaster1.xml" Id="R41c9fe42d69149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1167a8cb3940c5" /><Relationship Type="http://schemas.openxmlformats.org/officeDocument/2006/relationships/notesMaster" Target="/ppt/notesMasters/notesMaster1.xml" Id="R7ca3e85a439049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77b40f90294396" /><Relationship Type="http://schemas.openxmlformats.org/officeDocument/2006/relationships/notesMaster" Target="/ppt/notesMasters/notesMaster1.xml" Id="R53b88a11df5941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72fd8d1334e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71bd3332e7472d" /><Relationship Type="http://schemas.openxmlformats.org/officeDocument/2006/relationships/slideLayout" Target="/ppt/slideLayouts/slideLayout1.xml" Id="R85dde83d1e844c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dde83d1e844c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650fd7bf74446" /><Relationship Type="http://schemas.openxmlformats.org/officeDocument/2006/relationships/notesSlide" Target="/ppt/notesSlides/notesSlide1.xml" Id="R3328a5e7d2e145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4eae4ccab4011" /><Relationship Type="http://schemas.openxmlformats.org/officeDocument/2006/relationships/notesSlide" Target="/ppt/notesSlides/notesSlide2.xml" Id="R96f4e648516548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b7ab3f7c94fd1" /><Relationship Type="http://schemas.openxmlformats.org/officeDocument/2006/relationships/notesSlide" Target="/ppt/notesSlides/notesSlide3.xml" Id="Re452eb7ceb064a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7f2c585fd45e4" /><Relationship Type="http://schemas.openxmlformats.org/officeDocument/2006/relationships/notesSlide" Target="/ppt/notesSlides/notesSlide4.xml" Id="Rdef6559b75754c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463dec3f4fbb" /><Relationship Type="http://schemas.openxmlformats.org/officeDocument/2006/relationships/notesSlide" Target="/ppt/notesSlides/notesSlide5.xml" Id="Rf804e0c5cef748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194e7494644eb" /><Relationship Type="http://schemas.openxmlformats.org/officeDocument/2006/relationships/notesSlide" Target="/ppt/notesSlides/notesSlide6.xml" Id="R8788850a227a4f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4cb8c97b64442" /><Relationship Type="http://schemas.openxmlformats.org/officeDocument/2006/relationships/notesSlide" Target="/ppt/notesSlides/notesSlide7.xml" Id="R6357ca8145fc44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1032a180544b3" /><Relationship Type="http://schemas.openxmlformats.org/officeDocument/2006/relationships/notesSlide" Target="/ppt/notesSlides/notesSlide8.xml" Id="R4a5ce4f513214c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db356b02c4fef" /><Relationship Type="http://schemas.openxmlformats.org/officeDocument/2006/relationships/notesSlide" Target="/ppt/notesSlides/notesSlide9.xml" Id="R075e3c4f327842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8955dc1b74348" /><Relationship Type="http://schemas.openxmlformats.org/officeDocument/2006/relationships/notesSlide" Target="/ppt/notesSlides/notesSlide10.xml" Id="R98b031d9867c48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a7cf4686f47bf" /><Relationship Type="http://schemas.openxmlformats.org/officeDocument/2006/relationships/notesSlide" Target="/ppt/notesSlides/notesSlide11.xml" Id="R2ad6a1514a2c41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22499-E8E7-4A02-A79A-3A0FEE61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FBD2E-C7DB-4969-AB0E-5F306407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96D5B-6886-4186-8D33-81AC99E0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43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DAF0"/>
                </a:solidFill>
              </a:defRPr>
            </a:pPr>
            <a:r>
              <a:rPr sz="1200" b="1">
                <a:solidFill>
                  <a:srgbClr val="8EDAF0"/>
                </a:solidFill>
              </a:rPr>
              <a:t>AIC 2026 · PS3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3432F-A265-4892-B033-70B8FE94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790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BusinessIntelligence.ai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69FF7-A0E6-4791-A7EB-654C365A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5E6EF"/>
                </a:solidFill>
              </a:defRPr>
            </a:pPr>
            <a:r>
              <a:rPr sz="2025" b="0">
                <a:solidFill>
                  <a:srgbClr val="D5E6EF"/>
                </a:solidFill>
              </a:rPr>
              <a:t>A governed investigation engine that turns KPI movement into evidence-backed action — or clearly says when the evidence is not enough.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914CA-E339-4BB9-AFAE-28BB2927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CEF5C-794C-4ECC-89A3-1E8A35EB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ROUND 2 · Prototype Development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5A2F1-0C7C-49CA-A2ED-A2FC5B35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70385-E573-4319-8A16-F0B7BAC1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E31D9-52AF-4D1E-9A04-DB5AE91F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19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AA1F7-3BBB-4C98-A1EC-9C07DB9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669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F600D-5D30-4751-8306-5C519376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8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F12D5-E162-435B-B244-258A181B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8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D1354-EE6B-4D58-8504-22040C4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43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8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48C6F-BE07-4DA3-881E-FF780AF2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8D8E8"/>
                </a:solidFill>
              </a:defRPr>
            </a:pPr>
            <a:r>
              <a:rPr sz="1500" b="1">
                <a:solidFill>
                  <a:srgbClr val="B8D8E8"/>
                </a:solidFill>
              </a:rPr>
              <a:t>Signal → Evidence → Decision</a:t>
            </a:r>
          </a:p>
        </p:txBody>
      </p:sp>
    </p:spTree>
    <p:extLst>
      <p:ext uri="{BB962C8B-B14F-4D97-AF65-F5344CB8AC3E}">
        <p14:creationId xmlns:p14="http://schemas.microsoft.com/office/powerpoint/2010/main" val="544473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FA117-8F04-4542-9FA5-171E1367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THE ROUND 2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FEFD9-BF28-4C35-B374-D9FFBE73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1B2A"/>
                </a:solidFill>
              </a:defRPr>
            </a:pPr>
            <a:r>
              <a:rPr sz="2850" b="1">
                <a:solidFill>
                  <a:srgbClr val="0D1B2A"/>
                </a:solidFill>
              </a:rPr>
              <a:t>A KPI movement is not yet a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EEF90-1B29-4BC8-9FFF-0BF09BF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The prototype must reconcile imperfect sources, investigate likely drivers, communicate uncertainty, and route action to the right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8FAA4-F8E9-48C4-BC5B-F8D8C257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19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CD8C4-7134-4847-B2FE-7C1A2DF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C96A4-4B9D-4034-A693-A7E0C827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Find material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2BB90-E2F0-4A50-B46A-A40847F5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72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Separate normal variation from a signal worth investigating.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7C856-2BDA-4072-BEEB-B3352725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81250"/>
            <a:ext cx="3219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6F736-864F-4F72-8006-0DC0E7ED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003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B753D-64EC-4EE9-80E8-745DA4B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956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Establish trustworthy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5A27A-6D44-41E4-B8AC-CEBF891C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29000"/>
            <a:ext cx="272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Resolve conflicting definitions, calendar cuts, gaps, and identities.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021DB-3AD7-497F-B046-47FEDEC1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3219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F0E41-58F5-48B8-86D0-23604A8B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03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</a:defRPr>
            </a:pPr>
            <a:r>
              <a:rPr sz="1200" b="1">
                <a:solidFill>
                  <a:srgbClr val="1677C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0DEF1-D008-4EC7-9641-0210D32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956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Turn evidence into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D9B5B-B822-498F-8FC7-65AD7A2B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272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Rank competing causes, quantify impact, and assign a decision owner.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D3F90-150E-4137-ACAB-071C8998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B2A"/>
                </a:solidFill>
              </a:defRPr>
            </a:pPr>
            <a:r>
              <a:rPr sz="1875" b="1">
                <a:solidFill>
                  <a:srgbClr val="0D1B2A"/>
                </a:solidFill>
              </a:rPr>
              <a:t>The standard is not a better dashboard. It is a defensible path from noisy data to a governed business response.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5525F-02CC-495D-8EB0-0A3C526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C5639-D816-4B68-BAF4-E0A649C6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B"/>
                </a:solidFill>
              </a:defRPr>
            </a:pPr>
            <a:r>
              <a:rPr sz="900" b="0">
                <a:solidFill>
                  <a:srgbClr val="50657B"/>
                </a:solidFill>
              </a:rPr>
              <a:t>AIC 2026 · BusinessIntelligence.ai · Round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CEF7D-E58D-4316-9790-CAA0963E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57B"/>
                </a:solidFill>
              </a:defRPr>
            </a:pPr>
            <a:r>
              <a:rPr sz="900" b="1">
                <a:solidFill>
                  <a:srgbClr val="50657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8633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488E1-3ADB-4C55-BA13-7B6E312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CORE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BD32D-224B-440E-AB77-5C3B8E78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1B2A"/>
                </a:solidFill>
              </a:defRPr>
            </a:pPr>
            <a:r>
              <a:rPr sz="2850" b="1">
                <a:solidFill>
                  <a:srgbClr val="0D1B2A"/>
                </a:solidFill>
              </a:rPr>
              <a:t>The LLM never decides what is quantitatively 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A09D0-9745-472B-B825-ED88D88B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Every number, confidence label, and recommendation is structured before narration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59ED6-A2F6-4118-923C-895F108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62375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A6DFE-B505-4386-999B-E8B31FD3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62375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24A5B-5FAA-4AE8-B1D3-E39BB57B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62375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72848-EBB7-4235-952B-060596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75663-F7A5-4C4D-8C41-489EE1E4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1B2A"/>
                </a:solidFill>
              </a:defRPr>
            </a:pPr>
            <a:r>
              <a:rPr sz="1800" b="1">
                <a:solidFill>
                  <a:srgbClr val="0D1B2A"/>
                </a:solidFill>
              </a:rPr>
              <a:t>Observed</a:t>
            </a:r>
          </a:p>
          <a:p xmlns:a="http://schemas.openxmlformats.org/drawingml/2006/main">
            <a:pPr algn="ctr">
              <a:defRPr sz="1800" b="1">
                <a:solidFill>
                  <a:srgbClr val="0D1B2A"/>
                </a:solidFill>
              </a:defRPr>
            </a:pPr>
            <a:r>
              <a:rPr sz="1800" b="1">
                <a:solidFill>
                  <a:srgbClr val="0D1B2A"/>
                </a:solidFill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7780E-6170-4E9B-B72E-9DB45FB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432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7EFF6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A9028-5AA1-4297-8BB0-D5F9D5BF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19475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1B2A"/>
                </a:solidFill>
              </a:defRPr>
            </a:pPr>
            <a:r>
              <a:rPr sz="1800" b="1">
                <a:solidFill>
                  <a:srgbClr val="0D1B2A"/>
                </a:solidFill>
              </a:rPr>
              <a:t>Statistical</a:t>
            </a:r>
          </a:p>
          <a:p xmlns:a="http://schemas.openxmlformats.org/drawingml/2006/main">
            <a:pPr algn="ctr">
              <a:defRPr sz="1800" b="1">
                <a:solidFill>
                  <a:srgbClr val="0D1B2A"/>
                </a:solidFill>
              </a:defRPr>
            </a:pPr>
            <a:r>
              <a:rPr sz="1800" b="1">
                <a:solidFill>
                  <a:srgbClr val="0D1B2A"/>
                </a:solidFill>
              </a:rPr>
              <a:t>&amp; causal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B69FB-BC04-4D21-BFE6-D5E21CD7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08F18-3DCB-431B-BD69-066AEDE7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19475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1B2A"/>
                </a:solidFill>
              </a:defRPr>
            </a:pPr>
            <a:r>
              <a:rPr sz="1800" b="1">
                <a:solidFill>
                  <a:srgbClr val="0D1B2A"/>
                </a:solidFill>
              </a:rPr>
              <a:t>Evidence</a:t>
            </a:r>
          </a:p>
          <a:p xmlns:a="http://schemas.openxmlformats.org/drawingml/2006/main">
            <a:pPr algn="ctr">
              <a:defRPr sz="1800" b="1">
                <a:solidFill>
                  <a:srgbClr val="0D1B2A"/>
                </a:solidFill>
              </a:defRPr>
            </a:pPr>
            <a:r>
              <a:rPr sz="1800" b="1">
                <a:solidFill>
                  <a:srgbClr val="0D1B2A"/>
                </a:solidFill>
              </a:rPr>
              <a:t>resolution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5F1B8-4966-4559-BDE3-8BED3E51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BF9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4495A-759E-4DEE-A263-817C0013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19475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436A"/>
                </a:solidFill>
              </a:defRPr>
            </a:pPr>
            <a:r>
              <a:rPr sz="1800" b="1">
                <a:solidFill>
                  <a:srgbClr val="12436A"/>
                </a:solidFill>
              </a:rPr>
              <a:t>LLM</a:t>
            </a:r>
          </a:p>
          <a:p xmlns:a="http://schemas.openxmlformats.org/drawingml/2006/main">
            <a:pPr algn="ctr">
              <a:defRPr sz="1800" b="1">
                <a:solidFill>
                  <a:srgbClr val="12436A"/>
                </a:solidFill>
              </a:defRPr>
            </a:pPr>
            <a:r>
              <a:rPr sz="1800" b="1">
                <a:solidFill>
                  <a:srgbClr val="12436A"/>
                </a:solidFill>
              </a:rPr>
              <a:t>narration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9D47F-9FE1-4A4C-99F4-498F3ABF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05B"/>
                </a:solidFill>
              </a:defRPr>
            </a:pPr>
            <a:r>
              <a:rPr sz="1200" b="1">
                <a:solidFill>
                  <a:srgbClr val="16805B"/>
                </a:solidFill>
              </a:rPr>
              <a:t>Trusted reasoning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8E7D7-0FF8-437B-90C2-817B0DFF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7200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2C85C-0498-43F3-A838-AD4DA019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1B2A"/>
                </a:solidFill>
              </a:defRPr>
            </a:pPr>
            <a:r>
              <a:rPr sz="1950" b="1">
                <a:solidFill>
                  <a:srgbClr val="0D1B2A"/>
                </a:solidFill>
              </a:rPr>
              <a:t>The LLM explains the investigation — it does not invent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838C0-7890-497F-9136-D207BD25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86325"/>
            <a:ext cx="320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53324-1F2F-4C0D-88C4-CC9D759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76825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69025"/>
                </a:solidFill>
              </a:defRPr>
            </a:pPr>
            <a:r>
              <a:rPr sz="1650" b="1">
                <a:solidFill>
                  <a:srgbClr val="E69025"/>
                </a:solidFill>
              </a:rPr>
              <a:t>If evidence is insufficient: abstain.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47CF0-D774-44AE-B1A5-5B9CC7E8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F0369-3BDD-4DB5-83A4-9F773A5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B"/>
                </a:solidFill>
              </a:defRPr>
            </a:pPr>
            <a:r>
              <a:rPr sz="900" b="0">
                <a:solidFill>
                  <a:srgbClr val="50657B"/>
                </a:solidFill>
              </a:rPr>
              <a:t>AIC 2026 · BusinessIntelligence.ai · Round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80122-7D85-47AF-A7EA-228675C9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57B"/>
                </a:solidFill>
              </a:defRPr>
            </a:pPr>
            <a:r>
              <a:rPr sz="900" b="1">
                <a:solidFill>
                  <a:srgbClr val="50657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8507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B0C7C8-9AC5-4804-AD0C-BC90EC46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SYSTEM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14547-B970-4701-A4E8-C35B51AD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1B2A"/>
                </a:solidFill>
              </a:defRPr>
            </a:pPr>
            <a:r>
              <a:rPr sz="2850" b="1">
                <a:solidFill>
                  <a:srgbClr val="0D1B2A"/>
                </a:solidFill>
              </a:rPr>
              <a:t>Eleven stages form one inspection-ready investigation.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E261D-89E7-4A64-AD9C-916F082B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Cross-cutting governance wraps the pipeline rather than appearing as a last-minute compliance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35C81-CD5A-4447-9702-7540A404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194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B872B-2F30-4C0A-A4B6-41432695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7970E-4E0D-44D8-BAB4-67D56B47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1–3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52EF5-24A2-4895-9A0B-B31C46C6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B2A"/>
                </a:solidFill>
              </a:defRPr>
            </a:pPr>
            <a:r>
              <a:rPr sz="1875" b="1">
                <a:solidFill>
                  <a:srgbClr val="0D1B2A"/>
                </a:solidFill>
              </a:rPr>
              <a:t>Trust the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EE834-0B39-4C49-A598-7D688D34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Reconcile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0327C-702A-46EC-AB20-82AF7000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Classify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EECED-DBD8-46C4-856A-9B70BCB4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Prioritize KPI clusters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8C56D-0575-4AE0-9BF3-AF00289C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47900"/>
            <a:ext cx="32194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3E964-B3F6-45AB-853D-F8A2B0AC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47925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C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0D576-F77D-4EAC-9B8B-C3765A21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5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4321C-CEBE-4D81-95C5-4CA01284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0512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B2A"/>
                </a:solidFill>
              </a:defRPr>
            </a:pPr>
            <a:r>
              <a:rPr sz="1875" b="1">
                <a:solidFill>
                  <a:srgbClr val="0D1B2A"/>
                </a:solidFill>
              </a:rPr>
              <a:t>Diagnose causes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43240-F2A8-4831-91CE-9176716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0042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Decompose dimensions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05F9B-E403-426D-9868-429D96DA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5285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Fingerprint cause patterns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8360B-AE16-4F11-8233-A9A7F81D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0527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Retrieve linked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B00A7-2CCB-4E84-867D-8E4C3CF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5770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Resolve hypotheses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3020C-C347-4738-A616-81E9B508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2194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351B5-A608-498B-95E6-F018BA5D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47925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4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9F682-75AB-44AD-8261-0CD9AF3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8–11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ECF37-C242-4451-996F-403DDFAA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0512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B2A"/>
                </a:solidFill>
              </a:defRPr>
            </a:pPr>
            <a:r>
              <a:rPr sz="1875" b="1">
                <a:solidFill>
                  <a:srgbClr val="0D1B2A"/>
                </a:solidFill>
              </a:rPr>
              <a:t>Make action usable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65FA4-B051-4110-9628-AFB213E6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042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Quantify counterfactual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0DA4F-A148-4322-B2A1-04395A13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Assemble recommendation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452B2-CC82-482B-A4A5-6CDB623F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527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Route by persona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FDDDC6-1C9D-4B14-B2D0-6241FAC5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•  Narrate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B372B-791E-41E9-9A24-5C9EAFD3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1B2A"/>
                </a:solidFill>
              </a:defRPr>
            </a:pPr>
            <a:r>
              <a:rPr sz="1500" b="1">
                <a:solidFill>
                  <a:srgbClr val="0D1B2A"/>
                </a:solidFill>
              </a:rPr>
              <a:t>Shared services: Semantic contract · Security &amp; access filter · Decision rights · Learning &amp; memory · Telemetry &amp; cost governor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1891F-E92A-4EF2-AD2B-1F881655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FCAA99-34EA-40B6-8C15-5A75DB04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B"/>
                </a:solidFill>
              </a:defRPr>
            </a:pPr>
            <a:r>
              <a:rPr sz="900" b="0">
                <a:solidFill>
                  <a:srgbClr val="50657B"/>
                </a:solidFill>
              </a:rPr>
              <a:t>AIC 2026 · BusinessIntelligence.ai · Round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75249-2A8F-4827-AEF0-1841E5B6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57B"/>
                </a:solidFill>
              </a:defRPr>
            </a:pPr>
            <a:r>
              <a:rPr sz="900" b="1">
                <a:solidFill>
                  <a:srgbClr val="50657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3586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269D5-08ED-4725-BC6D-54811111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TRUST BEGINS UPSTREAM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78EF5-99B5-4C2E-A4BA-67B400F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1B2A"/>
                </a:solidFill>
              </a:defRPr>
            </a:pPr>
            <a:r>
              <a:rPr sz="2850" b="1">
                <a:solidFill>
                  <a:srgbClr val="0D1B2A"/>
                </a:solidFill>
              </a:rPr>
              <a:t>One business fact may arrive as three inconsistent source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BE837-0E20-4567-BBA1-3307384E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Stage 1 makes uncertainty visible before it contaminates detection, diagnosis, or recommendations.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00098-AFCD-4724-98FC-F66029D7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DDDAD-4D29-401B-AE6E-A342FCBD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Billing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C55EA-9058-425B-96C5-C39CEE97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Daily · UTC</a:t>
            </a:r>
          </a:p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Revenue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21C2D-4C75-4291-869A-2EF573D0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1D36C-4872-4683-A7CC-35F84E76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20912-9B84-406B-B4BA-83A4C620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Weekly · account</a:t>
            </a:r>
          </a:p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8ECFB-EA36-4D00-89FF-8AD28935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E6450-6271-4880-BDDA-CBEF6F36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Marketing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D2452-1558-4FF5-8863-E64003ED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Billing-cycle ·</a:t>
            </a:r>
          </a:p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attributed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A18B5-E6D2-4E86-ACB9-0487B7A4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1942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984F3-212D-491A-A91F-46C4A81C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479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C8"/>
                </a:solidFill>
              </a:defRPr>
            </a:pPr>
            <a:r>
              <a:rPr sz="2100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8E206-B4BD-4189-9992-7D5FCD8E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3638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FF7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FB3E7-F2D2-493F-86F4-7AF7BAB0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436A"/>
                </a:solidFill>
              </a:defRPr>
            </a:pPr>
            <a:r>
              <a:rPr sz="1725" b="1">
                <a:solidFill>
                  <a:srgbClr val="12436A"/>
                </a:solidFill>
              </a:rPr>
              <a:t>Canonical, uncertainty-tagged timeline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65C1B-6D55-49F8-BC15-CD520251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38475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semantic definitions · calendar alignment · identity resolution · materiality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F8B81-9F8F-4EB2-8796-CC8343AA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</a:defRPr>
            </a:pPr>
            <a:r>
              <a:rPr sz="1350" b="1">
                <a:solidFill>
                  <a:srgbClr val="1677C8"/>
                </a:solidFill>
              </a:rPr>
              <a:t>Conflict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CF26D-12CF-4AAA-B89E-36E8D923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check definition → correct declared bias → triangulate → decline if material/unresolved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CEE6B-3C8A-49EA-B062-C0EEF97B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</a:defRPr>
            </a:pPr>
            <a:r>
              <a:rPr sz="1350" b="1">
                <a:solidFill>
                  <a:srgbClr val="1677C8"/>
                </a:solidFill>
              </a:rPr>
              <a:t>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65DE4-B9EE-43BA-AC16-1B330A56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estimate only with uncertainty; protect downstream models from false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8E8E0-FDCF-46EF-98C2-019BD630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</a:defRPr>
            </a:pPr>
            <a:r>
              <a:rPr sz="1350" b="1">
                <a:solidFill>
                  <a:srgbClr val="1677C8"/>
                </a:solidFill>
              </a:rPr>
              <a:t>Drift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A8803-869B-4EFC-BB00-DFCACB3C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57B"/>
                </a:solidFill>
              </a:defRPr>
            </a:pPr>
            <a:r>
              <a:rPr sz="1275" b="0">
                <a:solidFill>
                  <a:srgbClr val="50657B"/>
                </a:solidFill>
              </a:rPr>
              <a:t>detect hidden definition changes and issue a visible restatement when needed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24A193-80C0-40F4-8EA2-8F645437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2F6A2-DF5D-4D3D-9998-86FF3009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B"/>
                </a:solidFill>
              </a:defRPr>
            </a:pPr>
            <a:r>
              <a:rPr sz="900" b="0">
                <a:solidFill>
                  <a:srgbClr val="50657B"/>
                </a:solidFill>
              </a:rPr>
              <a:t>AIC 2026 · BusinessIntelligence.ai · Round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E611A-D6E6-4878-8FB6-E0B92DCB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57B"/>
                </a:solidFill>
              </a:defRPr>
            </a:pPr>
            <a:r>
              <a:rPr sz="900" b="1">
                <a:solidFill>
                  <a:srgbClr val="50657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9491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F03897-A6DB-43A5-A787-99E56696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THE DIAGNOSTIC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493C8-30EA-434D-A6AD-5BC96D1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1B2A"/>
                </a:solidFill>
              </a:defRPr>
            </a:pPr>
            <a:r>
              <a:rPr sz="2850" b="1">
                <a:solidFill>
                  <a:srgbClr val="0D1B2A"/>
                </a:solidFill>
              </a:rPr>
              <a:t>Movement becomes an explainable hypothesis — not a plausible-sounding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74540-5FDD-4F3F-A254-1D97748E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Each stage constrains the next with observed data, model output, or evidence provenance.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67AEA-C179-46D5-9606-94D0C74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EBF9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D14F5-4847-4CA4-9A04-5A79DE42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80BD0-A6F6-401C-AAAC-5642B5D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Detect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B2ED1-0692-4174-961A-E509E876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Normal / emerging / significant / structural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D81E4-8DF2-4A52-8366-19A58CDA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81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C8"/>
                </a:solidFill>
              </a:defRPr>
            </a:pPr>
            <a:r>
              <a:rPr sz="2250" b="1">
                <a:solidFill>
                  <a:srgbClr val="1677C8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6E658-5355-4DAC-B4BF-0A8C1F4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33675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FEFF5-3149-45FA-9D8E-467E322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D9F1A-12E8-4E76-9E76-6521354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86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Decompose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E0747-BB33-48A0-8941-21B294BF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8617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Region · segment · product slices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FCA1C-8215-4D90-BEE7-CD2ED4B3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81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C8"/>
                </a:solidFill>
              </a:defRPr>
            </a:pPr>
            <a:r>
              <a:rPr sz="2250" b="1">
                <a:solidFill>
                  <a:srgbClr val="1677C8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C7F81-C212-44AD-AFFC-F0D9EC48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33675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7EFF6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1FCA6-68B0-4CF6-ADC0-57898711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1AC35-97B5-4D66-BE6E-7E716158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Fingerprint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5742B-642B-4F5B-8538-A3E68E9E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8617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Onset, spread, entropy, channel mix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65AEF-532E-40EE-8813-70CCA22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C8"/>
                </a:solidFill>
              </a:defRPr>
            </a:pPr>
            <a:r>
              <a:rPr sz="2250" b="1">
                <a:solidFill>
                  <a:srgbClr val="1677C8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A2DB4-898C-4916-9982-8C5E473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33675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F2AA0-4644-4932-8E84-ADE3CC56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F5578-FE45-4954-81A7-AD26761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86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Link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776A0-6E6B-4BFD-A3AC-9E3E1D03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8617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CRM · tickets · reviews, time-tagged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5E324-F75C-4632-94B9-27D689B4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81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7C8"/>
                </a:solidFill>
              </a:defRPr>
            </a:pPr>
            <a:r>
              <a:rPr sz="2250" b="1">
                <a:solidFill>
                  <a:srgbClr val="1677C8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917B8-C62B-45A9-BE5B-52D74F01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33675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EBF9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E3DFD-C539-4C06-A2BA-567F4497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9AB77-0279-434D-98BB-A0D8186F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B2A"/>
                </a:solidFill>
              </a:defRPr>
            </a:pPr>
            <a:r>
              <a:rPr sz="1650" b="1">
                <a:solidFill>
                  <a:srgbClr val="0D1B2A"/>
                </a:solidFill>
              </a:rPr>
              <a:t>Resolve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D126EC-07AC-4342-BA7B-8CB4D26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86175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Known · likely · possible · 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7950D-80D1-4736-9AF5-720C24BD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EC1245-CC36-402A-860A-06394E71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Evidence is filtered by entity scope and by whether it occurred before, during, or after the KPI change — a safeguard against confusing consequence with cause.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B91FFF-661D-4417-9180-626E6FE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AD4929-7A34-49E2-BC58-C1DC6E7A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B"/>
                </a:solidFill>
              </a:defRPr>
            </a:pPr>
            <a:r>
              <a:rPr sz="900" b="0">
                <a:solidFill>
                  <a:srgbClr val="50657B"/>
                </a:solidFill>
              </a:rPr>
              <a:t>AIC 2026 · BusinessIntelligence.ai · Round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2532AC-57EC-4C61-AFB7-1DF13FEA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57B"/>
                </a:solidFill>
              </a:defRPr>
            </a:pPr>
            <a:r>
              <a:rPr sz="900" b="1">
                <a:solidFill>
                  <a:srgbClr val="50657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3454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9C387-AD8A-4166-833C-D5819294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THE DIFFERENTIATOR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44AE2-9F27-4C07-B9A7-3C76D91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1B2A"/>
                </a:solidFill>
              </a:defRPr>
            </a:pPr>
            <a:r>
              <a:rPr sz="2850" b="1">
                <a:solidFill>
                  <a:srgbClr val="0D1B2A"/>
                </a:solidFill>
              </a:rPr>
              <a:t>When causes overlap, do not force a top-one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BD77F-C868-477F-A214-3DCAFC71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Stage 5b is an explicit confounded-cause branch: it attributes what is identifiable and preserves a joint component where it is 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C54E5-7075-4DE3-896D-BEAB2E88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D4984-A775-408D-A32E-051A806A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4B4B"/>
                </a:solidFill>
              </a:defRPr>
            </a:pPr>
            <a:r>
              <a:rPr sz="1650" b="1">
                <a:solidFill>
                  <a:srgbClr val="C94B4B"/>
                </a:solidFill>
              </a:rPr>
              <a:t>The usual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A2B1C-3DC0-4C14-A37C-D4DAA8E7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1B2A"/>
                </a:solidFill>
              </a:defRPr>
            </a:pPr>
            <a:r>
              <a:rPr sz="2250" b="1">
                <a:solidFill>
                  <a:srgbClr val="0D1B2A"/>
                </a:solidFill>
              </a:rPr>
              <a:t>“The cause is marketing.”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4AD2B-C299-489F-B76C-D69B34EB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A clean-sounding answer that can hide reliability, inventory, or competitive effects inside the same KPI movement.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5F81D-9A0A-4BD7-9F7F-DE05C964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48768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DEFF7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D9AA2-7B6B-4DAB-94D6-D70E728A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28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436A"/>
                </a:solidFill>
              </a:defRPr>
            </a:pPr>
            <a:r>
              <a:rPr sz="1650" b="1">
                <a:solidFill>
                  <a:srgbClr val="12436A"/>
                </a:solidFill>
              </a:rPr>
              <a:t>Our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844B2-3C83-4B87-9807-B6EE2EE0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1B2A"/>
                </a:solidFill>
              </a:defRPr>
            </a:pPr>
            <a:r>
              <a:rPr sz="2025" b="1">
                <a:solidFill>
                  <a:srgbClr val="0D1B2A"/>
                </a:solidFill>
              </a:rPr>
              <a:t>Identifiable effects + shared 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E6752-40BB-40E2-BFEA-60A2E76C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528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A route gate checks whether the data can support separate attribution. If not, the system reports a joint cause instead of fabricating a split.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1CDBD-9B42-47B2-B2D8-D46BC06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Cold start is handled separately: borrow a matched analogue’s volatility profile and label confidence as borrowed, not native.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F4225-43D3-430D-B270-65C128A2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F46A0-5D8D-4F80-A72F-64182C34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B"/>
                </a:solidFill>
              </a:defRPr>
            </a:pPr>
            <a:r>
              <a:rPr sz="900" b="0">
                <a:solidFill>
                  <a:srgbClr val="50657B"/>
                </a:solidFill>
              </a:rPr>
              <a:t>AIC 2026 · BusinessIntelligence.ai · Round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61F03-8070-41BE-93BA-4C104B7C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57B"/>
                </a:solidFill>
              </a:defRPr>
            </a:pPr>
            <a:r>
              <a:rPr sz="900" b="1">
                <a:solidFill>
                  <a:srgbClr val="50657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8207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FAD0C-D395-4019-9AF4-FEFD1CD2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DECISION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0A1CB-1CF9-4936-8E6D-A0FAE86A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1B2A"/>
                </a:solidFill>
              </a:defRPr>
            </a:pPr>
            <a:r>
              <a:rPr sz="2850" b="1">
                <a:solidFill>
                  <a:srgbClr val="0D1B2A"/>
                </a:solidFill>
              </a:rPr>
              <a:t>Counterfactuals come before recommendations.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B4AB2-D92D-44D9-9341-9815E23B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Stage 8 asks what the KPI would have been without the suspected event; Stage 9 turns that bounded result into an authorized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265E5-B5D3-4BAC-B748-A0AD6EDD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0861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620C4-15B4-45B6-9F43-C63F9E58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6C395-258F-42E3-BE18-C2323946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1B2A"/>
                </a:solidFill>
              </a:defRPr>
            </a:pPr>
            <a:r>
              <a:rPr sz="1950" b="1">
                <a:solidFill>
                  <a:srgbClr val="0D1B2A"/>
                </a:solidFill>
              </a:rPr>
              <a:t>Observed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1C5CA-5732-4867-A06A-2944E775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57B"/>
                </a:solidFill>
              </a:defRPr>
            </a:pPr>
            <a:r>
              <a:rPr sz="1350" b="0">
                <a:solidFill>
                  <a:srgbClr val="50657B"/>
                </a:solidFill>
              </a:rPr>
              <a:t>A KPI moved; its change is decomposed and evidence-linked.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79C1D-3994-4564-A914-54984913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30861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DDEFF7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97A7E-F06F-48BF-947D-0A309CD0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62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95FC7-61E1-44BC-BE7D-2E29A6DF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38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1B2A"/>
                </a:solidFill>
              </a:defRPr>
            </a:pPr>
            <a:r>
              <a:rPr sz="1950" b="1">
                <a:solidFill>
                  <a:srgbClr val="0D1B2A"/>
                </a:solidFill>
              </a:rPr>
              <a:t>Counterfactual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22AAA-4F4C-44EE-85F0-FE6E227B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623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57B"/>
                </a:solidFill>
              </a:defRPr>
            </a:pPr>
            <a:r>
              <a:rPr sz="1350" b="0">
                <a:solidFill>
                  <a:srgbClr val="50657B"/>
                </a:solidFill>
              </a:rPr>
              <a:t>Model a no-event trajectory, retain uncertainty, and abstain when mechanisms are unsupported.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CA5EB-6D34-4ED1-984E-7594093C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30861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DDA8B-B68E-4508-B7A5-AC06D753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F1691-4537-43E2-B469-EAEE9C09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1B2A"/>
                </a:solidFill>
              </a:defRPr>
            </a:pPr>
            <a:r>
              <a:rPr sz="1950" b="1">
                <a:solidFill>
                  <a:srgbClr val="0D1B2A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3FFAF-408C-4E68-A2A5-353B9B69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623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57B"/>
                </a:solidFill>
              </a:defRPr>
            </a:pPr>
            <a:r>
              <a:rPr sz="1350" b="0">
                <a:solidFill>
                  <a:srgbClr val="50657B"/>
                </a:solidFill>
              </a:rPr>
              <a:t>Map driver → lever → action → owner → monitoring plan, respecting decision rights.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8A444-DA71-4DB7-8ADA-8345ED12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671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8DE94-6C80-45D1-B5F0-0A92494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671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DF660-6F26-44C5-BD8F-BA36EC69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861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77C8"/>
                </a:solidFill>
              </a:defRPr>
            </a:pPr>
            <a:r>
              <a:rPr sz="2025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4D442-7C98-4AE9-A132-D9803CC6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4861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77C8"/>
                </a:solidFill>
              </a:defRPr>
            </a:pPr>
            <a:r>
              <a:rPr sz="2025" b="1">
                <a:solidFill>
                  <a:srgbClr val="1677C8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813B5-A8B6-4774-AC2B-A3B2D7FB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1B2A"/>
                </a:solidFill>
              </a:defRPr>
            </a:pPr>
            <a:r>
              <a:rPr sz="1800" b="1">
                <a:solidFill>
                  <a:srgbClr val="0D1B2A"/>
                </a:solidFill>
              </a:rPr>
              <a:t>The recommendation cannot rewrite the diagnosis. It can only select a feasible, compatible response to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646EB-C8D9-467D-807B-2CCF6A8E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23A89-8D9B-4BA2-8F56-592C2682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B"/>
                </a:solidFill>
              </a:defRPr>
            </a:pPr>
            <a:r>
              <a:rPr sz="900" b="0">
                <a:solidFill>
                  <a:srgbClr val="50657B"/>
                </a:solidFill>
              </a:rPr>
              <a:t>AIC 2026 · BusinessIntelligence.ai · Round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EBD67-70A9-4618-B8F2-2D673C9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57B"/>
                </a:solidFill>
              </a:defRPr>
            </a:pPr>
            <a:r>
              <a:rPr sz="900" b="1">
                <a:solidFill>
                  <a:srgbClr val="50657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78369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902736-5C9F-45E1-B1D4-E588F54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GOVERNED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E6CEE-EB2A-4B05-888B-6FA3FC92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1B2A"/>
                </a:solidFill>
              </a:defRPr>
            </a:pPr>
            <a:r>
              <a:rPr sz="2850" b="1">
                <a:solidFill>
                  <a:srgbClr val="0D1B2A"/>
                </a:solidFill>
              </a:rPr>
              <a:t>Trust, access, action rights, learning, and cost control are product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D4A50-F802-4A00-9C09-1A838F3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These controls are consulted throughout the pipeline, not appended as a policy slide.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48060-09CE-48D2-87CB-33A7F1A6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8859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85C6C-4ECD-4344-94A6-B3C9CE75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3E3DB-F47B-4891-A520-259CBFD5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Security &amp;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FD825-30A9-4CAE-8AE7-9ECB8B2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5430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Row / column / domain filtering determines what a person may see.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97309-87A1-4C8E-A694-753A79CD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71725"/>
            <a:ext cx="18859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DC126-CE12-4E93-B6D8-E05B5E22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62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64847-B483-4806-99A0-644279F8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Decision rights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F1C42-FCE0-49DE-9117-7ADBDD3C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15430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Seeing a recommendation is distinct from being authorized to act on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D9035-6D72-4904-B012-8EAF42A7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18859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360A0-246B-45E6-90E9-41289178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62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B63B7-D913-4041-A3AA-88CEF29C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908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Persona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70061-DCE9-49A8-9944-6554FF95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14750"/>
            <a:ext cx="15430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Executives, analysts, and operators receive different decisions and depth — not merely shorter copy.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CC8D8-EA80-4995-8AA2-37533F9A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71725"/>
            <a:ext cx="18859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E5EDE-A002-494E-9994-C2131A89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62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24DC3-1471-404B-90D7-68E33DC3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908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Learning &amp;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B3ECC-1133-434E-BE9B-990E27BA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14750"/>
            <a:ext cx="15430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Analyst corrections become reusable investigation history and future training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F21DC-C578-49CC-A745-811D1326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71725"/>
            <a:ext cx="18859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7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C8B00-B882-460C-8F57-D87F7B3A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D89E9-C23F-4DFF-B3EA-9358B52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Cost governor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8C1F9-53A0-428D-A5D7-013F79A9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14750"/>
            <a:ext cx="15430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Telemetry tracks latency, calls, and tokens; cheap methods route work before expensive model calls.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EDE70-C1E1-46B8-B76F-F2E895F6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A385A-5CAE-4563-A9D7-0BB099B5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B"/>
                </a:solidFill>
              </a:defRPr>
            </a:pPr>
            <a:r>
              <a:rPr sz="900" b="0">
                <a:solidFill>
                  <a:srgbClr val="50657B"/>
                </a:solidFill>
              </a:rPr>
              <a:t>AIC 2026 · BusinessIntelligence.ai · Round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D6858-F573-4521-8C09-8DB6A7A8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57B"/>
                </a:solidFill>
              </a:defRPr>
            </a:pPr>
            <a:r>
              <a:rPr sz="900" b="1">
                <a:solidFill>
                  <a:srgbClr val="50657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1831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CCC03B-4219-4850-A505-94CA556A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C8"/>
                </a:solidFill>
              </a:defRPr>
            </a:pPr>
            <a:r>
              <a:rPr sz="1050" b="1">
                <a:solidFill>
                  <a:srgbClr val="1677C8"/>
                </a:solidFill>
              </a:rPr>
              <a:t>PROTOTYPE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1143D-09CA-49D2-AA2F-B8B5DCCE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1B2A"/>
                </a:solidFill>
              </a:defRPr>
            </a:pPr>
            <a:r>
              <a:rPr sz="2850" b="1">
                <a:solidFill>
                  <a:srgbClr val="0D1B2A"/>
                </a:solidFill>
              </a:rPr>
              <a:t>The simulator turns “AI insight” into testable engineering.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6EAA6-4E33-4683-95F4-93E7E525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57B"/>
                </a:solidFill>
              </a:defRPr>
            </a:pPr>
            <a:r>
              <a:rPr sz="1425" b="0">
                <a:solidFill>
                  <a:srgbClr val="50657B"/>
                </a:solidFill>
              </a:rPr>
              <a:t>Synthetic episodes inject known causes, confounded events, and pure noise — while the live pipeline only sees degraded observed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F9C7C-854F-42AB-BFD4-CA244365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885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E94B9-9B0F-455E-BFE0-29D5CA01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Generate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A7376-3C80-4338-B5E0-6DE7B2D1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Ground truth: events, causal chains, volatility regimes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7735A-383D-4397-A152-5C04CAC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9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C8"/>
                </a:solidFill>
              </a:defRPr>
            </a:pPr>
            <a:r>
              <a:rPr sz="2100" b="1">
                <a:solidFill>
                  <a:srgbClr val="1677C8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E89C0-38F6-4320-8834-C4AB0670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1885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C2718-2EED-472A-8FCE-95462111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95575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Degrade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B7F19-60FA-4311-8A54-DEB607DC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432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Observed sources: lags, gaps, conflicting values, misaligned calendars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2DDBD-9486-4770-9F9C-EDAB6AB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9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C8"/>
                </a:solidFill>
              </a:defRPr>
            </a:pPr>
            <a:r>
              <a:rPr sz="2100" b="1">
                <a:solidFill>
                  <a:srgbClr val="1677C8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0F5D9-551C-43EE-8594-1B6868B4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1885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D4369-9B0A-496A-8650-D1645701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95575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Train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8E7E1-741A-4577-B3A9-3C1C19ED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Significance and fingerprint models on labeled episodes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034D8-D31A-4786-ADAC-1C571422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C8"/>
                </a:solidFill>
              </a:defRPr>
            </a:pPr>
            <a:r>
              <a:rPr sz="2100" b="1">
                <a:solidFill>
                  <a:srgbClr val="1677C8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CBC29-D91C-4771-BD05-713783B5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1885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FF7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887ED-468A-459F-9208-09A2364C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95575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Hold 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F64A7-7FB9-4687-BE83-94145131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Run the full pipeline without exposing the answer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D8306-8E60-4461-A22C-062E9BE5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C8"/>
                </a:solidFill>
              </a:defRPr>
            </a:pPr>
            <a:r>
              <a:rPr sz="2100" b="1">
                <a:solidFill>
                  <a:srgbClr val="1677C8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12597-434A-4EC8-8E7D-2F0AC0A8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1885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5D2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8E79D-0141-4F20-843C-8B9E4D98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95575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1B2A"/>
                </a:solidFill>
              </a:defRPr>
            </a:pPr>
            <a:r>
              <a:rPr sz="1575" b="1">
                <a:solidFill>
                  <a:srgbClr val="0D1B2A"/>
                </a:solidFill>
              </a:rPr>
              <a:t>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21595-4F90-4211-9F1D-1B54B2A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581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Compare output to truth and show the failure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6F8CB-CFD5-475F-A50C-19351DA2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9AABC-3226-49C9-8E3D-225EF85B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precision / recall by change class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E1D1F-0305-482C-9528-C3021355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6250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Diagnosis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1FA616-42AE-42F1-B661-1C777667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5777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root-cause top-1 and top-3 accuracy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F7B81-F9C0-4299-B75A-8E7C768C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6250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Honesty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BF9D84-9C71-4705-B9FC-EFE32E07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5777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false-causality rate on noise episodes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C1D79F-5867-4BB9-8855-64B6B803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7ED45-9CA4-488F-8B02-85C9F240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5777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counterfactual MAE versus simulated truth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DCDE8A-2F97-4ECE-9ED0-D4962CD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6250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</a:defRPr>
            </a:pPr>
            <a:r>
              <a:rPr sz="1275" b="1">
                <a:solidFill>
                  <a:srgbClr val="1677C8"/>
                </a:solidFill>
              </a:rPr>
              <a:t>Calibration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E8738C-647A-4430-B74C-E8309CBA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5777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57B"/>
                </a:solidFill>
              </a:defRPr>
            </a:pPr>
            <a:r>
              <a:rPr sz="1200" b="0">
                <a:solidFill>
                  <a:srgbClr val="50657B"/>
                </a:solidFill>
              </a:rPr>
              <a:t>do confidence labels match outcomes?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388815-99BD-4418-A8CE-D096D636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07C394-0439-4CD5-8A5F-E306AE1A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B"/>
                </a:solidFill>
              </a:defRPr>
            </a:pPr>
            <a:r>
              <a:rPr sz="900" b="0">
                <a:solidFill>
                  <a:srgbClr val="50657B"/>
                </a:solidFill>
              </a:rPr>
              <a:t>AIC 2026 · BusinessIntelligence.ai · Round 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1730E9-EA1C-4598-8936-9B2A0673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57B"/>
                </a:solidFill>
              </a:defRPr>
            </a:pPr>
            <a:r>
              <a:rPr sz="900" b="1">
                <a:solidFill>
                  <a:srgbClr val="50657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18560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8030D-ACBD-4316-9C17-D6C88537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066CA-6E26-4699-9665-685C5587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AAF02-E8CF-46AD-B49E-1F7921AE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DAF0"/>
                </a:solidFill>
              </a:defRPr>
            </a:pPr>
            <a:r>
              <a:rPr sz="1200" b="1">
                <a:solidFill>
                  <a:srgbClr val="8EDAF0"/>
                </a:solidFill>
              </a:rPr>
              <a:t>ROUND 2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83448-3A51-4F57-AAA9-8BB64397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A decision system that earns the right to speak.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7A2BC-3CBC-44F1-80A6-5EB3B35E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790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5E6EF"/>
                </a:solidFill>
              </a:defRPr>
            </a:pPr>
            <a:r>
              <a:rPr sz="1950" b="0">
                <a:solidFill>
                  <a:srgbClr val="D5E6EF"/>
                </a:solidFill>
              </a:rPr>
              <a:t>It reconciles data before trusting it, makes causality explicit before recommending action, and abstains when the evidence does not support a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CC621-9A3B-4A8D-839B-48CDC012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DD5BD-2493-4C52-9463-DC4E72A8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Live, judge-directed investigation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054E1-F55D-4007-A2BD-D5048516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6A687-F5C4-4866-B883-13580D67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Inspectable evidence and uncertainty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20B88-8F79-400A-9FBC-68709E4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B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0178A-6FF3-4D94-95EF-FDF3C05F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Action routed to the person who can actually decide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177B5-722F-4A2C-AF86-109CA2F0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8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9A2E5-3E14-4ACD-BC74-B7B3D420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D8E8"/>
                </a:solidFill>
              </a:defRPr>
            </a:pPr>
            <a:r>
              <a:rPr sz="1200" b="1">
                <a:solidFill>
                  <a:srgbClr val="B8D8E8"/>
                </a:solidFill>
              </a:rPr>
              <a:t>BusinessIntelligence.ai · From KPI movement to governed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7267A-7E13-4DB7-9FB9-8E1492D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15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D8E8"/>
                </a:solidFill>
              </a:defRPr>
            </a:pPr>
            <a:r>
              <a:rPr sz="1050" b="1">
                <a:solidFill>
                  <a:srgbClr val="B8D8E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7541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2026-08-30T11:03:18.8090000Z</dcterms:created>
  <dcterms:modified xsi:type="dcterms:W3CDTF">2026-08-30T11:03:18.8090000Z</dcterms:modified>
</coreProperties>
</file>